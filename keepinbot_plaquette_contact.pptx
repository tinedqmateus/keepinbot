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OKcUP5bBKUagVz2d0Cc6lm0D8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02C39A">
              <a:alpha val="12156"/>
            </a:srgbClr>
          </a:solidFill>
          <a:ln cap="flat" cmpd="sng" w="12700">
            <a:solidFill>
              <a:srgbClr val="02C39A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82296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Keepinbot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Plutôt que de tout garder à l'esprit,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on charge le bot.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57200" y="2834640"/>
            <a:ext cx="6400800" cy="0"/>
          </a:xfrm>
          <a:prstGeom prst="straightConnector1">
            <a:avLst/>
          </a:prstGeom>
          <a:noFill/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457200" y="292608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2EAF0"/>
                </a:solidFill>
                <a:latin typeface="Calibri"/>
                <a:ea typeface="Calibri"/>
                <a:cs typeface="Calibri"/>
                <a:sym typeface="Calibri"/>
              </a:rPr>
              <a:t>Assistant documentaire RAG hybride pour PME/TPE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3375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Entre performance et maîtrise des coûts, la confidentialité est essentielle.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457200" y="3840480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github.com/tineDqMateus/keepinbot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&amp; Problématique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914400"/>
            <a:ext cx="402336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914400"/>
            <a:ext cx="64008" cy="1600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📁  Connaissance éparpillée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46304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Mails, PPT, Word, PDFs — personne ne sait où chercher. Les nouvelles recrues se noient.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54880" y="914400"/>
            <a:ext cx="402336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754880" y="914400"/>
            <a:ext cx="64008" cy="1600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⏱️  Veille réglementaire manuelle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37760" y="146304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législation française change plusieurs fois par an. Le suivi manuel est chronophage et peu fiable.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2834640"/>
            <a:ext cx="402336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2834640"/>
            <a:ext cx="64008" cy="1600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4864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🔒  Données sensibles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33832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 solutions cloud font transiter les données internes hors du SI de l'entreprise.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54880" y="2834640"/>
            <a:ext cx="402336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754880" y="2834640"/>
            <a:ext cx="64008" cy="1600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💸  Coûts prohibitifs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937760" y="33832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 solutions du marché nécessitent des licences et des compétences rares.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Solution — 4 Modules Intégrés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82880" y="822960"/>
            <a:ext cx="20574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82880" y="822960"/>
            <a:ext cx="2057400" cy="548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56032" y="8686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13232" y="89611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Veille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4320" y="1481328"/>
            <a:ext cx="1874520" cy="274320"/>
          </a:xfrm>
          <a:prstGeom prst="rect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74320" y="149961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Sources officielles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74320" y="1874520"/>
            <a:ext cx="18745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Détecte quotidiennement les modifications réglementaires sur les sites officiels. Alerte uniquement si du nouveau.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395728" y="822960"/>
            <a:ext cx="20574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395728" y="822960"/>
            <a:ext cx="2057400" cy="548640"/>
          </a:xfrm>
          <a:prstGeom prst="rect">
            <a:avLst/>
          </a:prstGeom>
          <a:solidFill>
            <a:srgbClr val="0A5C8A"/>
          </a:solidFill>
          <a:ln cap="flat" cmpd="sng" w="12700">
            <a:solidFill>
              <a:srgbClr val="0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468880" y="8686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926080" y="89611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Collecte Réglementation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487168" y="1481328"/>
            <a:ext cx="1874520" cy="274320"/>
          </a:xfrm>
          <a:prstGeom prst="rect">
            <a:avLst/>
          </a:prstGeom>
          <a:solidFill>
            <a:srgbClr val="0A5C8A">
              <a:alpha val="14901"/>
            </a:srgbClr>
          </a:solidFill>
          <a:ln cap="flat" cmpd="sng" w="12700">
            <a:solidFill>
              <a:srgbClr val="0A5C8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487168" y="149961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8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5C8A"/>
                </a:solidFill>
                <a:latin typeface="Calibri"/>
                <a:ea typeface="Calibri"/>
                <a:cs typeface="Calibri"/>
                <a:sym typeface="Calibri"/>
              </a:rPr>
              <a:t>Documents publics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487168" y="1874520"/>
            <a:ext cx="18745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Indexe les PDFs officiels déposés manuellement. Gestion automatique des versions — l'ancienne est archivée.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608576" y="822960"/>
            <a:ext cx="20574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608576" y="822960"/>
            <a:ext cx="2057400" cy="548640"/>
          </a:xfrm>
          <a:prstGeom prst="rect">
            <a:avLst/>
          </a:prstGeom>
          <a:solidFill>
            <a:srgbClr val="1A6B5A"/>
          </a:solidFill>
          <a:ln cap="flat" cmpd="sng" w="12700">
            <a:solidFill>
              <a:srgbClr val="1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681728" y="8686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138928" y="89611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interne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700016" y="1481328"/>
            <a:ext cx="1874520" cy="274320"/>
          </a:xfrm>
          <a:prstGeom prst="rect">
            <a:avLst/>
          </a:prstGeom>
          <a:solidFill>
            <a:srgbClr val="1A6B5A">
              <a:alpha val="14901"/>
            </a:srgbClr>
          </a:solidFill>
          <a:ln cap="flat" cmpd="sng" w="12700">
            <a:solidFill>
              <a:srgbClr val="1A6B5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700016" y="149961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5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5A"/>
                </a:solidFill>
                <a:latin typeface="Calibri"/>
                <a:ea typeface="Calibri"/>
                <a:cs typeface="Calibri"/>
                <a:sym typeface="Calibri"/>
              </a:rPr>
              <a:t>Connaissance interne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00016" y="1874520"/>
            <a:ext cx="18745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Transforme des fichiers hétérogènes (mails, PPT, Word) en document structuré. Validation humaine avant indexation.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821424" y="822960"/>
            <a:ext cx="20574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821424" y="822960"/>
            <a:ext cx="2057400" cy="5486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894576" y="8686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51776" y="89611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Assistant RAG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912864" y="1481328"/>
            <a:ext cx="1874520" cy="274320"/>
          </a:xfrm>
          <a:prstGeom prst="rect">
            <a:avLst/>
          </a:prstGeom>
          <a:solidFill>
            <a:srgbClr val="0A2342">
              <a:alpha val="14901"/>
            </a:srgbClr>
          </a:solidFill>
          <a:ln cap="flat" cmpd="sng" w="12700">
            <a:solidFill>
              <a:srgbClr val="0A234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912864" y="149961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Interface utilisateur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912864" y="1874520"/>
            <a:ext cx="18745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Chatbot qui répond en citant ses sources. Routeur hybride : données sensibles en local, données publiques via API Mistral.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194560" y="2560320"/>
            <a:ext cx="201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407408" y="2560320"/>
            <a:ext cx="201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620256" y="2560320"/>
            <a:ext cx="201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82880" y="4462272"/>
            <a:ext cx="8778240" cy="50292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20040" y="4498848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💡  Solution clé en main déjà développée et testée — vous ne payez que l'adaptation à votre contexte, pas le développement.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Fonctionnalités de l'application — Détail des onglets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28600" y="804672"/>
            <a:ext cx="27432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28600" y="804672"/>
            <a:ext cx="2743200" cy="384048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01752" y="85953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67512" y="8595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0040" y="1261872"/>
            <a:ext cx="2560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Question en langage naturel dans le navigateur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Réponse sourcée avec nom du document cité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Indicateur local/cloud selon confidentialité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Historique de conversation dans la session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136392" y="804672"/>
            <a:ext cx="27432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136392" y="804672"/>
            <a:ext cx="274320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209544" y="85953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575304" y="8595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Veille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27832" y="1261872"/>
            <a:ext cx="2560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Rapport quotidien des modifications détectées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Changements affichés en rouge avec liens officiels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Historique des alertes par 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Compteur de quota (1 000 req/mois gratuites)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044184" y="804672"/>
            <a:ext cx="27432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044184" y="804672"/>
            <a:ext cx="2743200" cy="384048"/>
          </a:xfrm>
          <a:prstGeom prst="rect">
            <a:avLst/>
          </a:prstGeom>
          <a:solidFill>
            <a:srgbClr val="0A5C8A"/>
          </a:solidFill>
          <a:ln cap="flat" cmpd="sng" w="12700">
            <a:solidFill>
              <a:srgbClr val="0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117336" y="85953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83096" y="8595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Collecte Réglementation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135624" y="1261872"/>
            <a:ext cx="2560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Dépôt de PDFs officiels dans un dossier local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Bouton Indexer — intégration en un clic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Gestion automatique des versions et archivage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Liste des documents réglementaires en vigueur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28600" y="2834640"/>
            <a:ext cx="27432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28600" y="2834640"/>
            <a:ext cx="2743200" cy="384048"/>
          </a:xfrm>
          <a:prstGeom prst="rect">
            <a:avLst/>
          </a:prstGeom>
          <a:solidFill>
            <a:srgbClr val="1A6B5A"/>
          </a:solidFill>
          <a:ln cap="flat" cmpd="sng" w="12700">
            <a:solidFill>
              <a:srgbClr val="1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01752" y="28895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67512" y="28895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interne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" y="3291840"/>
            <a:ext cx="2560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Upload multi-fichiers (PDF, Word, PPT, mail)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Génération d'un document structuré par le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Aperçu et téléchargement Word avant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Validation humaine obligatoire avant indexation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136392" y="2834640"/>
            <a:ext cx="27432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136392" y="2834640"/>
            <a:ext cx="2743200" cy="384048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209544" y="28895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575304" y="28895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227832" y="3291840"/>
            <a:ext cx="2560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État des services (Ollama, ChromaDB, mode LLM)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Statistiques de la base documentaire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Reconstruction de la base en un clic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Informations système et chemins de données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A — Surveillance &amp; Mise à Jour Réglementaire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74320" y="868680"/>
            <a:ext cx="1600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777240" y="960120"/>
            <a:ext cx="594360" cy="59436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77240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166420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Surveillance auto 6h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411480" y="2121408"/>
            <a:ext cx="132588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365760" y="2212848"/>
            <a:ext cx="1417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Cron Docker déclenche run_veille.py. Tavily interroge les sites officiels sur 10 sujets.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3840480"/>
            <a:ext cx="1417320" cy="502920"/>
          </a:xfrm>
          <a:prstGeom prst="rect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3858768"/>
            <a:ext cx="14173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1 000 req/mois gratuites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874520" y="2331720"/>
            <a:ext cx="137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011680" y="868680"/>
            <a:ext cx="1600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2514600" y="960120"/>
            <a:ext cx="594360" cy="594360"/>
          </a:xfrm>
          <a:prstGeom prst="ellipse">
            <a:avLst/>
          </a:prstGeom>
          <a:solidFill>
            <a:srgbClr val="0A5C8A"/>
          </a:solidFill>
          <a:ln cap="flat" cmpd="sng" w="12700">
            <a:solidFill>
              <a:srgbClr val="0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2514600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103120" y="166420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C8A"/>
                </a:solidFill>
                <a:latin typeface="Calibri"/>
                <a:ea typeface="Calibri"/>
                <a:cs typeface="Calibri"/>
                <a:sym typeface="Calibri"/>
              </a:rPr>
              <a:t>Comparaison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5"/>
          <p:cNvCxnSpPr/>
          <p:nvPr/>
        </p:nvCxnSpPr>
        <p:spPr>
          <a:xfrm>
            <a:off x="2148840" y="2121408"/>
            <a:ext cx="132588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5"/>
          <p:cNvSpPr/>
          <p:nvPr/>
        </p:nvSpPr>
        <p:spPr>
          <a:xfrm>
            <a:off x="2103120" y="2212848"/>
            <a:ext cx="1417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ChromaDB retourne ce qu'on a déjà sur ce sujet. Mistral API compare — alerte si du nouveau.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103120" y="3840480"/>
            <a:ext cx="1417320" cy="502920"/>
          </a:xfrm>
          <a:prstGeom prst="rect">
            <a:avLst/>
          </a:prstGeom>
          <a:solidFill>
            <a:srgbClr val="0A5C8A">
              <a:alpha val="12156"/>
            </a:srgbClr>
          </a:solidFill>
          <a:ln cap="flat" cmpd="sng" w="12700">
            <a:solidFill>
              <a:srgbClr val="0A5C8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103120" y="3858768"/>
            <a:ext cx="14173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A5C8A"/>
                </a:solidFill>
                <a:latin typeface="Calibri"/>
                <a:ea typeface="Calibri"/>
                <a:cs typeface="Calibri"/>
                <a:sym typeface="Calibri"/>
              </a:rPr>
              <a:t>Zéro faux positif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611880" y="2331720"/>
            <a:ext cx="137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749040" y="868680"/>
            <a:ext cx="1600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251960" y="960120"/>
            <a:ext cx="594360" cy="594360"/>
          </a:xfrm>
          <a:prstGeom prst="ellipse">
            <a:avLst/>
          </a:prstGeom>
          <a:solidFill>
            <a:srgbClr val="1A6B5A"/>
          </a:solidFill>
          <a:ln cap="flat" cmpd="sng" w="12700">
            <a:solidFill>
              <a:srgbClr val="1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251960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840480" y="166420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5A"/>
                </a:solidFill>
                <a:latin typeface="Calibri"/>
                <a:ea typeface="Calibri"/>
                <a:cs typeface="Calibri"/>
                <a:sym typeface="Calibri"/>
              </a:rPr>
              <a:t>Alerte &amp; liens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3886200" y="2121408"/>
            <a:ext cx="132588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3840480" y="2212848"/>
            <a:ext cx="1417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🔴 Changement détecté → liens officiels affichés. L'utilisateur télécharge le PDF depuis son navigateur.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840480" y="3840480"/>
            <a:ext cx="1417320" cy="502920"/>
          </a:xfrm>
          <a:prstGeom prst="rect">
            <a:avLst/>
          </a:prstGeom>
          <a:solidFill>
            <a:srgbClr val="1A6B5A">
              <a:alpha val="12156"/>
            </a:srgbClr>
          </a:solidFill>
          <a:ln cap="flat" cmpd="sng" w="12700">
            <a:solidFill>
              <a:srgbClr val="1A6B5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840480" y="3858768"/>
            <a:ext cx="14173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5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6B5A"/>
                </a:solidFill>
                <a:latin typeface="Calibri"/>
                <a:ea typeface="Calibri"/>
                <a:cs typeface="Calibri"/>
                <a:sym typeface="Calibri"/>
              </a:rPr>
              <a:t>info.gouv.fr, urssaf.fr...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349240" y="2331720"/>
            <a:ext cx="137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486400" y="868680"/>
            <a:ext cx="1600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5989320" y="960120"/>
            <a:ext cx="594360" cy="594360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989320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577840" y="166420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Dépôt &amp; indexation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5623560" y="2121408"/>
            <a:ext cx="132588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5577840" y="2212848"/>
            <a:ext cx="1417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PDF déposé dans data/public/ (même nom). Clic Indexer → extraction texte + découpage + base vectorielle.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577840" y="3840480"/>
            <a:ext cx="1417320" cy="502920"/>
          </a:xfrm>
          <a:prstGeom prst="rect">
            <a:avLst/>
          </a:prstGeom>
          <a:solidFill>
            <a:srgbClr val="B45309">
              <a:alpha val="12156"/>
            </a:srgbClr>
          </a:solidFill>
          <a:ln cap="flat" cmpd="sng" w="12700">
            <a:solidFill>
              <a:srgbClr val="B45309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577840" y="3858768"/>
            <a:ext cx="14173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Archivage automatique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086600" y="2331720"/>
            <a:ext cx="137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223760" y="868680"/>
            <a:ext cx="1600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7726680" y="960120"/>
            <a:ext cx="594360" cy="594360"/>
          </a:xfrm>
          <a:prstGeom prst="ellipse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7726680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315200" y="1664208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Base à jour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7360920" y="2121408"/>
            <a:ext cx="132588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7315200" y="2212848"/>
            <a:ext cx="1417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Ancienne version archivée. Nouvelle version indexée. Historique surveillance effacé.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315200" y="3840480"/>
            <a:ext cx="1417320" cy="502920"/>
          </a:xfrm>
          <a:prstGeom prst="rect">
            <a:avLst/>
          </a:prstGeom>
          <a:solidFill>
            <a:srgbClr val="0A2342">
              <a:alpha val="12156"/>
            </a:srgbClr>
          </a:solidFill>
          <a:ln cap="flat" cmpd="sng" w="12700">
            <a:solidFill>
              <a:srgbClr val="0A234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7315200" y="3858768"/>
            <a:ext cx="14173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🟢 Lendemain : base OK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B — Interroger la Base Documentaire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65760" y="868680"/>
            <a:ext cx="19202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033272" y="960120"/>
            <a:ext cx="594360" cy="59436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033272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57200" y="166420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6"/>
          <p:cNvCxnSpPr/>
          <p:nvPr/>
        </p:nvCxnSpPr>
        <p:spPr>
          <a:xfrm>
            <a:off x="502920" y="2075688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6"/>
          <p:cNvSpPr/>
          <p:nvPr/>
        </p:nvSpPr>
        <p:spPr>
          <a:xfrm>
            <a:off x="457200" y="2167128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L'utilisateur tape sa question dans le navigateur. Aucun logiciel à installer.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3611880"/>
            <a:ext cx="1737360" cy="347472"/>
          </a:xfrm>
          <a:prstGeom prst="rect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57200" y="363016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Interface Streamlit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286000" y="23774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468880" y="868680"/>
            <a:ext cx="19202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3136392" y="960120"/>
            <a:ext cx="594360" cy="594360"/>
          </a:xfrm>
          <a:prstGeom prst="ellipse">
            <a:avLst/>
          </a:prstGeom>
          <a:solidFill>
            <a:srgbClr val="0A5C8A"/>
          </a:solidFill>
          <a:ln cap="flat" cmpd="sng" w="12700">
            <a:solidFill>
              <a:srgbClr val="0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136392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560320" y="166420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5C8A"/>
                </a:solidFill>
                <a:latin typeface="Calibri"/>
                <a:ea typeface="Calibri"/>
                <a:cs typeface="Calibri"/>
                <a:sym typeface="Calibri"/>
              </a:rPr>
              <a:t>Recherche sémantique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2606040" y="2075688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6"/>
          <p:cNvSpPr/>
          <p:nvPr/>
        </p:nvSpPr>
        <p:spPr>
          <a:xfrm>
            <a:off x="2560320" y="2167128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base vectorielle transforme la question et trouve les 5 passages les plus proches dans les documents indexés.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560320" y="3611880"/>
            <a:ext cx="1737360" cy="347472"/>
          </a:xfrm>
          <a:prstGeom prst="rect">
            <a:avLst/>
          </a:prstGeom>
          <a:solidFill>
            <a:srgbClr val="0A5C8A">
              <a:alpha val="12156"/>
            </a:srgbClr>
          </a:solidFill>
          <a:ln cap="flat" cmpd="sng" w="12700">
            <a:solidFill>
              <a:srgbClr val="0A5C8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2560320" y="363016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C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A5C8A"/>
                </a:solidFill>
                <a:latin typeface="Calibri"/>
                <a:ea typeface="Calibri"/>
                <a:cs typeface="Calibri"/>
                <a:sym typeface="Calibri"/>
              </a:rPr>
              <a:t>Sentence-Transformers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389120" y="23774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0" y="868680"/>
            <a:ext cx="19202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5239512" y="960120"/>
            <a:ext cx="594360" cy="594360"/>
          </a:xfrm>
          <a:prstGeom prst="ellipse">
            <a:avLst/>
          </a:prstGeom>
          <a:solidFill>
            <a:srgbClr val="1A6B5A"/>
          </a:solidFill>
          <a:ln cap="flat" cmpd="sng" w="12700">
            <a:solidFill>
              <a:srgbClr val="1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5239512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663440" y="166420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6B5A"/>
                </a:solidFill>
                <a:latin typeface="Calibri"/>
                <a:ea typeface="Calibri"/>
                <a:cs typeface="Calibri"/>
                <a:sym typeface="Calibri"/>
              </a:rPr>
              <a:t>Routage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6"/>
          <p:cNvCxnSpPr/>
          <p:nvPr/>
        </p:nvCxnSpPr>
        <p:spPr>
          <a:xfrm>
            <a:off x="4709160" y="2075688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6"/>
          <p:cNvSpPr/>
          <p:nvPr/>
        </p:nvSpPr>
        <p:spPr>
          <a:xfrm>
            <a:off x="4663440" y="2167128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 routeur analyse les documents sources. Données internes → local. Données publiques → API Mistral.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663440" y="3611880"/>
            <a:ext cx="1737360" cy="347472"/>
          </a:xfrm>
          <a:prstGeom prst="rect">
            <a:avLst/>
          </a:prstGeom>
          <a:solidFill>
            <a:srgbClr val="1A6B5A">
              <a:alpha val="12156"/>
            </a:srgbClr>
          </a:solidFill>
          <a:ln cap="flat" cmpd="sng" w="12700">
            <a:solidFill>
              <a:srgbClr val="1A6B5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663440" y="363016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5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6B5A"/>
                </a:solidFill>
                <a:latin typeface="Calibri"/>
                <a:ea typeface="Calibri"/>
                <a:cs typeface="Calibri"/>
                <a:sym typeface="Calibri"/>
              </a:rPr>
              <a:t>Confidentialité garantie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492240" y="23774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675120" y="868680"/>
            <a:ext cx="19202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7342632" y="960120"/>
            <a:ext cx="594360" cy="594360"/>
          </a:xfrm>
          <a:prstGeom prst="ellipse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342632" y="960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766560" y="166420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Réponse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6"/>
          <p:cNvCxnSpPr/>
          <p:nvPr/>
        </p:nvCxnSpPr>
        <p:spPr>
          <a:xfrm>
            <a:off x="6812280" y="2075688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6"/>
          <p:cNvSpPr/>
          <p:nvPr/>
        </p:nvSpPr>
        <p:spPr>
          <a:xfrm>
            <a:off x="6766560" y="2167128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 LLM génère une réponse à partir des passages fournis uniquement. Sources et mode affichés.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766560" y="3611880"/>
            <a:ext cx="1737360" cy="347472"/>
          </a:xfrm>
          <a:prstGeom prst="rect">
            <a:avLst/>
          </a:prstGeom>
          <a:solidFill>
            <a:srgbClr val="0A2342">
              <a:alpha val="12156"/>
            </a:srgbClr>
          </a:solidFill>
          <a:ln cap="flat" cmpd="sng" w="12700">
            <a:solidFill>
              <a:srgbClr val="0A234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6766560" y="363016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Anti-hallucination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48640" y="4187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🟣 Données internes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48640" y="4434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Ollama + Phi-3 Mini en local — zéro appel externe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6"/>
          <p:cNvCxnSpPr/>
          <p:nvPr/>
        </p:nvCxnSpPr>
        <p:spPr>
          <a:xfrm>
            <a:off x="4572000" y="4187952"/>
            <a:ext cx="0" cy="685800"/>
          </a:xfrm>
          <a:prstGeom prst="straightConnector1">
            <a:avLst/>
          </a:prstGeom>
          <a:noFill/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6"/>
          <p:cNvSpPr/>
          <p:nvPr/>
        </p:nvSpPr>
        <p:spPr>
          <a:xfrm>
            <a:off x="4754880" y="4187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🟢 Données publiques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754880" y="4434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API Mistral cloud — fragments de texte public uniquement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— Confidentialité par Conception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EAF4FB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365760" y="8686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🔒  DONNÉES INTERNES — LOCAL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57200" y="137160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Contrats, RH, projets, procédures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Phi-3 Mini via Ollama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 vectorielle ChromaDB sur disque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Zéro appel externe — données sur site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57200" y="3291840"/>
            <a:ext cx="3474720" cy="457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57200" y="3319272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RGPD ✓  Aucune donnée ne sort du 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749040" y="2194560"/>
            <a:ext cx="1645920" cy="64008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374904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029200" y="822960"/>
            <a:ext cx="3840480" cy="3931920"/>
          </a:xfrm>
          <a:prstGeom prst="rect">
            <a:avLst/>
          </a:prstGeom>
          <a:solidFill>
            <a:srgbClr val="EEF2FF"/>
          </a:solidFill>
          <a:ln cap="flat" cmpd="sng" w="1905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5120640" y="8686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☁️  DONNÉES PUBLIQUES —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212080" y="137160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Documents réglementaires officiels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Surveillance Tavily — sources officielles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Mistral (entreprise française)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Gratuit jusqu'à 1M tokens/mois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212080" y="3291840"/>
            <a:ext cx="3474720" cy="4572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5212080" y="3319272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Mistral AI — Entreprise française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74320" y="484632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recherche dans les documents est toujours effectuée en local. Seuls les fragments de texte public transitent vers l'API Mistral — jamais les documents complets.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Avantages Clés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20040" y="822960"/>
            <a:ext cx="26517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457200" y="932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14400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Confidentialité garantie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>
            <a:off x="457200" y="141732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8"/>
          <p:cNvSpPr/>
          <p:nvPr/>
        </p:nvSpPr>
        <p:spPr>
          <a:xfrm>
            <a:off x="457200" y="150876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Données sensibles traitées en local. Aucune information ne quitte votre infrastructure.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200400" y="822960"/>
            <a:ext cx="26517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337560" y="932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794760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Rapport qualité/prix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3337560" y="141732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8"/>
          <p:cNvSpPr/>
          <p:nvPr/>
        </p:nvSpPr>
        <p:spPr>
          <a:xfrm>
            <a:off x="3337560" y="150876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Solution déjà développée. Déploiement à partir de 4 900 € HT là où un développement sur mesure coûte 10 000 à 35 000 €.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080760" y="822960"/>
            <a:ext cx="26517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217920" y="93268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🖱️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675120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Déploiement clé en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8"/>
          <p:cNvCxnSpPr/>
          <p:nvPr/>
        </p:nvCxnSpPr>
        <p:spPr>
          <a:xfrm>
            <a:off x="6217920" y="141732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8"/>
          <p:cNvSpPr/>
          <p:nvPr/>
        </p:nvSpPr>
        <p:spPr>
          <a:xfrm>
            <a:off x="6217920" y="150876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Installation Docker unique, puis lancer.sh démarre tout. Accessible depuis tous les postes du réseau interne.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20040" y="2834640"/>
            <a:ext cx="26517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57200" y="294436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914400" y="29718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Alertes réglementaires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8"/>
          <p:cNvCxnSpPr/>
          <p:nvPr/>
        </p:nvCxnSpPr>
        <p:spPr>
          <a:xfrm>
            <a:off x="457200" y="3429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8"/>
          <p:cNvSpPr/>
          <p:nvPr/>
        </p:nvSpPr>
        <p:spPr>
          <a:xfrm>
            <a:off x="457200" y="352044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Surveillance quotidienne sur sources officielles. Alerte uniquement si un changement est absent de votre base.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200400" y="2834640"/>
            <a:ext cx="26517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337560" y="294436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794760" y="29718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Multi-format natif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8"/>
          <p:cNvCxnSpPr/>
          <p:nvPr/>
        </p:nvCxnSpPr>
        <p:spPr>
          <a:xfrm>
            <a:off x="3337560" y="3429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8"/>
          <p:cNvSpPr/>
          <p:nvPr/>
        </p:nvSpPr>
        <p:spPr>
          <a:xfrm>
            <a:off x="3337560" y="352044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PDF, Word, PowerPoint, mails — tous les formats courants en entreprise.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080760" y="2834640"/>
            <a:ext cx="26517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217920" y="294436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675120" y="29718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Anti-hallucination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8"/>
          <p:cNvCxnSpPr/>
          <p:nvPr/>
        </p:nvCxnSpPr>
        <p:spPr>
          <a:xfrm>
            <a:off x="6217920" y="3429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8"/>
          <p:cNvSpPr/>
          <p:nvPr/>
        </p:nvSpPr>
        <p:spPr>
          <a:xfrm>
            <a:off x="6217920" y="352044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Répond uniquement sur vos documents. Signale explicitement quand il ne sait pas.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Planning de Mise en Place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377440" y="777240"/>
            <a:ext cx="877824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2377440" y="795528"/>
            <a:ext cx="877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3291840" y="777240"/>
            <a:ext cx="877824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3291840" y="795528"/>
            <a:ext cx="877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206240" y="777240"/>
            <a:ext cx="877824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206240" y="795528"/>
            <a:ext cx="877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120640" y="777240"/>
            <a:ext cx="877824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5120640" y="795528"/>
            <a:ext cx="877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035040" y="777240"/>
            <a:ext cx="877824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035040" y="795528"/>
            <a:ext cx="877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6949440" y="777240"/>
            <a:ext cx="877824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949440" y="795528"/>
            <a:ext cx="877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7863840" y="777240"/>
            <a:ext cx="877824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863840" y="795528"/>
            <a:ext cx="877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37160" y="1188720"/>
            <a:ext cx="21488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182880" y="1207008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Cadrage &amp;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82880" y="1426464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Analyse besoins, inventaire documentaire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2377440" y="1188720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3291840" y="1188720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4206240" y="1188720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5120640" y="1188720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6035040" y="1188720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949440" y="1188720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7863840" y="1188720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2377440" y="1234440"/>
            <a:ext cx="877824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2377440" y="1261872"/>
            <a:ext cx="877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137160" y="1847088"/>
            <a:ext cx="21488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182880" y="1865376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Adaptation corpus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82880" y="208483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Nettoyage, structuration, chargement initial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377440" y="1847088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3291840" y="1847088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4206240" y="1847088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120640" y="1847088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035040" y="1847088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6949440" y="1847088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863840" y="1847088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3291840" y="1892808"/>
            <a:ext cx="1792224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3291840" y="1920240"/>
            <a:ext cx="1792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37160" y="2505456"/>
            <a:ext cx="21488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182880" y="2523744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Configuration système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82880" y="2743200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Paramétrage RAG, prompts, surveillance Tavily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2377440" y="2505456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3291840" y="2505456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4206240" y="2505456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5120640" y="2505456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6035040" y="2505456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6949440" y="2505456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7863840" y="2505456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5120640" y="2551176"/>
            <a:ext cx="877824" cy="384048"/>
          </a:xfrm>
          <a:prstGeom prst="rect">
            <a:avLst/>
          </a:prstGeom>
          <a:solidFill>
            <a:srgbClr val="1A6B5A"/>
          </a:solidFill>
          <a:ln cap="flat" cmpd="sng" w="12700">
            <a:solidFill>
              <a:srgbClr val="1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5120640" y="2578608"/>
            <a:ext cx="877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137160" y="3163824"/>
            <a:ext cx="21488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182880" y="3182112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Déploiement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182880" y="340156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Installation infrastructure client, 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2377440" y="3163824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3291840" y="3163824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206240" y="3163824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5120640" y="3163824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6035040" y="3163824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6949440" y="3163824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7863840" y="3163824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6035040" y="3209544"/>
            <a:ext cx="877824" cy="384048"/>
          </a:xfrm>
          <a:prstGeom prst="rect">
            <a:avLst/>
          </a:prstGeom>
          <a:solidFill>
            <a:srgbClr val="0A5C8A"/>
          </a:solidFill>
          <a:ln cap="flat" cmpd="sng" w="12700">
            <a:solidFill>
              <a:srgbClr val="0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6035040" y="3236976"/>
            <a:ext cx="877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137160" y="3822192"/>
            <a:ext cx="21488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182880" y="3840480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Formation, recette &amp; documentation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182880" y="405993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Prise en main équipes, validation, docs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2377440" y="3822192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3291840" y="3822192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4206240" y="3822192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5120640" y="3822192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6035040" y="3822192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6949440" y="3822192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7863840" y="3822192"/>
            <a:ext cx="877824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6949440" y="3867912"/>
            <a:ext cx="1792224" cy="384048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6949440" y="3895344"/>
            <a:ext cx="1792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137160" y="4526280"/>
            <a:ext cx="886968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228600" y="455371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Durée totale : 7 jours — à titre indicatif  |  Solution déjà prototypée et testée — délais ajustables selon le contexte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Outillage &amp; Options de Déploiement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365760" y="8503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 Côté Serveur (une seule machine)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57200" y="1490472"/>
            <a:ext cx="54864" cy="228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94360" y="141732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CPU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057400" y="141732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 — pas de GPU requis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57200" y="1920240"/>
            <a:ext cx="54864" cy="228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594360" y="18470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RAM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2057400" y="184708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16 Go recommandés (8 Go minimum)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57200" y="2350008"/>
            <a:ext cx="54864" cy="228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594360" y="227685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Stockage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057400" y="2276856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 Go libres (modèle LLM + données)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57200" y="2779776"/>
            <a:ext cx="54864" cy="228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594360" y="2706624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Docker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2057400" y="2706624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Gratuit pour PME &lt; 250 salariés — docker.com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57200" y="3209544"/>
            <a:ext cx="54864" cy="228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594360" y="313639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Compte Mistral AI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2057400" y="313639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console.mistral.ai — gratuit 1M tokens/mois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57200" y="3639312"/>
            <a:ext cx="54864" cy="228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594360" y="356616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Compte Tavily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2057400" y="356616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app.tavily.com — gratuit 1 000 req/mois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457200" y="4142232"/>
            <a:ext cx="1645920" cy="502920"/>
          </a:xfrm>
          <a:prstGeom prst="rect">
            <a:avLst/>
          </a:prstGeom>
          <a:solidFill>
            <a:srgbClr val="EAF4FB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502920" y="416052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Option A — Serveur existant *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02920" y="437083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Surveillance réglementaire automatique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2240280" y="4142232"/>
            <a:ext cx="2011680" cy="502920"/>
          </a:xfrm>
          <a:prstGeom prst="rect">
            <a:avLst/>
          </a:prstGeom>
          <a:solidFill>
            <a:srgbClr val="EEF2FF"/>
          </a:solidFill>
          <a:ln cap="flat" cmpd="sng" w="1015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2286000" y="41605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Option B — Serveur dédié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2286000" y="4370832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Achat mini-serveur : 300-600 €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 pas de serveur existant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57200" y="47091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Déploiement possible sur PC — nécessité de le garder allumé et planificateur de tâches Windows à configurer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4846320" y="8503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 Côté Utilisateurs (chaque poste)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937760" y="1417320"/>
            <a:ext cx="3474720" cy="18288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Navigateur web uniquement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937760" y="2011680"/>
            <a:ext cx="3474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Chrome, Firefox, Edge ou Safari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Aucune installation requise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Aucune compétence technique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937760" y="3364992"/>
            <a:ext cx="3474720" cy="12801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5029200" y="341071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Configuration unique côté serveur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029200" y="3721608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Docker installé une fois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Comptes Mistral AI et Tavily dans le fichier .env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Accès depuis tous les postes via navigateur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2160"/>
            </a:srgbClr>
          </a:solidFill>
          <a:ln cap="flat" cmpd="sng" w="12700">
            <a:solidFill>
              <a:srgbClr val="02809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2C39A">
              <a:alpha val="10196"/>
            </a:srgbClr>
          </a:solidFill>
          <a:ln cap="flat" cmpd="sng" w="12700">
            <a:solidFill>
              <a:srgbClr val="02C39A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Prenons contact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Pour une démonstration ou un devis personnalisé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1"/>
          <p:cNvCxnSpPr/>
          <p:nvPr/>
        </p:nvCxnSpPr>
        <p:spPr>
          <a:xfrm>
            <a:off x="2286000" y="201168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1"/>
          <p:cNvSpPr/>
          <p:nvPr/>
        </p:nvSpPr>
        <p:spPr>
          <a:xfrm>
            <a:off x="2286000" y="2286000"/>
            <a:ext cx="4572000" cy="2286000"/>
          </a:xfrm>
          <a:prstGeom prst="rect">
            <a:avLst/>
          </a:prstGeom>
          <a:solidFill>
            <a:srgbClr val="0D2E4A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2468880" y="242316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Martine MATEUS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2468880" y="28346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Expert en ingénierie de l'IA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11"/>
          <p:cNvCxnSpPr/>
          <p:nvPr/>
        </p:nvCxnSpPr>
        <p:spPr>
          <a:xfrm>
            <a:off x="2468880" y="3218688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1"/>
          <p:cNvSpPr/>
          <p:nvPr/>
        </p:nvSpPr>
        <p:spPr>
          <a:xfrm>
            <a:off x="2468880" y="389534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AF0"/>
                </a:solidFill>
                <a:latin typeface="Calibri"/>
                <a:ea typeface="Calibri"/>
                <a:cs typeface="Calibri"/>
                <a:sym typeface="Calibri"/>
              </a:rPr>
              <a:t>🔗  </a:t>
            </a:r>
            <a:r>
              <a:rPr lang="en-US" sz="1200">
                <a:solidFill>
                  <a:srgbClr val="E2EAF0"/>
                </a:solidFill>
                <a:latin typeface="Calibri"/>
                <a:ea typeface="Calibri"/>
                <a:cs typeface="Calibri"/>
                <a:sym typeface="Calibri"/>
              </a:rPr>
              <a:t>https://tally.so/r/ODENVR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11"/>
          <p:cNvCxnSpPr/>
          <p:nvPr/>
        </p:nvCxnSpPr>
        <p:spPr>
          <a:xfrm>
            <a:off x="2286000" y="466344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github.com/tineDqMateus/keepinbot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2C39A">
              <a:alpha val="10196"/>
            </a:srgbClr>
          </a:solidFill>
          <a:ln cap="flat" cmpd="sng" w="12700">
            <a:solidFill>
              <a:srgbClr val="02C39A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Keepinbot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La connaissance de votre entreprise, accessible par un chatbot 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entre performance et maîtrise des coûts, la confidentialité est essentielle.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2"/>
          <p:cNvCxnSpPr/>
          <p:nvPr/>
        </p:nvCxnSpPr>
        <p:spPr>
          <a:xfrm>
            <a:off x="1828800" y="210312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2"/>
          <p:cNvSpPr/>
          <p:nvPr/>
        </p:nvSpPr>
        <p:spPr>
          <a:xfrm>
            <a:off x="1645920" y="2331720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Données sensibles 100% en local — RGPD by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645920" y="2715768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Alertes réglementaires sur sources officielles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1645920" y="3099816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Déploiement clé en main en 7 jours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1645920" y="3483864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À partir de 4 900 € HT — prototype déjà développé, à adapter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12"/>
          <p:cNvCxnSpPr/>
          <p:nvPr/>
        </p:nvCxnSpPr>
        <p:spPr>
          <a:xfrm>
            <a:off x="1828800" y="393192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github.com/tineDqMateus/keepinbot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2026-06-09T23:31:51Z</dcterms:created>
  <dc:creator>PptxGenJS</dc:creator>
</cp:coreProperties>
</file>